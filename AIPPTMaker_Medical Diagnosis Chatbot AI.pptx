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ppt/slideLayouts/slideLayout2.xml" Type="http://schemas.openxmlformats.org/officeDocument/2006/relationships/slideLayout"/><Relationship Id="rId6" Target="ppt/slideLayouts/slideLayout3.xml" Type="http://schemas.openxmlformats.org/officeDocument/2006/relationships/slideLayout"/><Relationship Id="rId7" Target="ppt/slideLayouts/slideLayout4.xml" Type="http://schemas.openxmlformats.org/officeDocument/2006/relationships/slideLayout"/><Relationship Id="rId8" Target="ppt/slideLayouts/slideLayout5.xml" Type="http://schemas.openxmlformats.org/officeDocument/2006/relationships/slideLayout"/><Relationship Id="rId9"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114" d="100"/>
          <a:sy n="114" d="100"/>
        </p:scale>
        <p:origin x="912"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1.png" Type="http://schemas.openxmlformats.org/officeDocument/2006/relationships/image"/></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1.png" Type="http://schemas.openxmlformats.org/officeDocument/2006/relationships/image"/></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1.png" Type="http://schemas.openxmlformats.org/officeDocument/2006/relationships/image"/></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1.png" Type="http://schemas.openxmlformats.org/officeDocument/2006/relationships/image"/></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1.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true">
          <a:blip r:embed="rId2"/>
          <a:stretch>
            <a:fillRect t="0" l="0" b="0" r="0"/>
          </a:stretch>
        </a:blipFill>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标题和内容">
    <p:bg>
      <p:bgPr>
        <a:blipFill rotWithShape="true">
          <a:blip r:embed="rId2"/>
          <a:stretch>
            <a:fillRect t="0" l="0" b="0" r="0"/>
          </a:stretch>
        </a:blip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blipFill rotWithShape="true">
          <a:blip r:embed="rId2"/>
          <a:stretch>
            <a:fillRect t="0" l="0" b="0" r="0"/>
          </a:stretch>
        </a:blip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TxTwoObj">
  <p:cSld name="标题和副标题">
    <p:bg>
      <p:bgPr>
        <a:blipFill rotWithShape="true">
          <a:blip r:embed="rId2"/>
          <a:stretch>
            <a:fillRect t="0" l="0" b="0" r="0"/>
          </a:stretch>
        </a:blip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仅标题版式">
    <p:bg>
      <p:bgPr>
        <a:blipFill rotWithShape="true">
          <a:blip r:embed="rId2"/>
          <a:stretch>
            <a:fillRect t="0" l="0" b="0" r="0"/>
          </a:stretch>
        </a:blip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2" Target="../theme/theme1.xml" Type="http://schemas.openxmlformats.org/officeDocument/2006/relationships/theme"/><Relationship Id="rId3" Target="../media/image1.png" Type="http://schemas.openxmlformats.org/officeDocument/2006/relationships/image"/><Relationship Id="rId4" Target="../slideLayouts/slideLayout2.xml" Type="http://schemas.openxmlformats.org/officeDocument/2006/relationships/slideLayout"/><Relationship Id="rId5" Target="../slideLayouts/slideLayout3.xml" Type="http://schemas.openxmlformats.org/officeDocument/2006/relationships/slideLayout"/><Relationship Id="rId6" Target="../slideLayouts/slideLayout4.xml" Type="http://schemas.openxmlformats.org/officeDocument/2006/relationships/slideLayout"/><Relationship Id="rId7" Target="../slideLayouts/slideLayout5.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true">
          <a:blip r:embed="rId3"/>
          <a:stretch>
            <a:fillRect t="0" l="0" b="0" r="0"/>
          </a:stretch>
        </a:blipFill>
      </p:bgPr>
    </p:bg>
    <p:spTree>
      <p:nvGrpSpPr>
        <p:cNvPr id="1" name=""/>
        <p:cNvGrpSpPr/>
        <p:nvPr/>
      </p:nvGrpSpPr>
      <p:grpSpPr>
        <a:xfrm>
          <a:off x="0" y="0"/>
          <a:ext cx="0" cy="0"/>
          <a:chOff x="0" y="0"/>
          <a:chExt cx="0" cy="0"/>
        </a:xfrm>
      </p:grpSpPr>
      <p:sp>
        <p:nvSpPr>
          <p:cNvPr name="AutoShape 2" id="2" hidden="true"/>
          <p:cNvSpPr/>
          <p:nvPr/>
        </p:nvSpPr>
        <p:spPr>
          <a:xfrm>
            <a:off x="0" y="0"/>
            <a:ext cx="0" cy="0"/>
          </a:xfrm>
          <a:prstGeom prst="rect">
            <a:avLst/>
          </a:prstGeom>
          <a:solidFill>
            <a:schemeClr val="accent1"/>
          </a:solidFill>
          <a:ln w="12700" cap="flat" cmpd="sng">
            <a:solidFill>
              <a:schemeClr val="accent1">
                <a:shade val="50000"/>
              </a:schemeClr>
            </a:solidFill>
            <a:prstDash val="solid"/>
          </a:ln>
        </p:spPr>
        <p:txBody>
          <a:bodyPr vert="horz" anchor="ctr" tIns="45720" lIns="91440" bIns="45720" rIns="91440"/>
          <a:p>
            <a:pPr algn="ctr" marL="0"/>
          </a:p>
        </p:txBody>
      </p:sp>
    </p:spTree>
  </p:cSld>
  <p:clrMap bg1="lt1" tx1="dk1" bg2="lt2" tx2="dk2" accent1="accent1" accent2="accent2" accent3="accent3" accent4="accent4" accent5="accent5" accent6="accent6" hlink="hlink" folHlink="folHlink"/>
  <p:sldLayoutIdLst>
    <p:sldLayoutId id="2147483655" r:id="rId1"/>
    <p:sldLayoutId id="2147483656" r:id="rId4"/>
    <p:sldLayoutId id="2147483657" r:id="rId5"/>
    <p:sldLayoutId id="2147483658" r:id="rId6"/>
    <p:sldLayoutId id="2147483659"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3.xml" Type="http://schemas.openxmlformats.org/officeDocument/2006/relationships/slideLayout"/><Relationship Id="rId2" Target="../media/image3.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3.xml" Type="http://schemas.openxmlformats.org/officeDocument/2006/relationships/slideLayout"/><Relationship Id="rId2" Target="../media/image3.png" Type="http://schemas.openxmlformats.org/officeDocument/2006/relationships/image"/><Relationship Id="rId3"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3.xml" Type="http://schemas.openxmlformats.org/officeDocument/2006/relationships/slideLayout"/><Relationship Id="rId2" Target="../media/image3.png" Type="http://schemas.openxmlformats.org/officeDocument/2006/relationships/image"/><Relationship Id="rId3"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3.xml" Type="http://schemas.openxmlformats.org/officeDocument/2006/relationships/slideLayout"/><Relationship Id="rId2" Target="../media/image3.png" Type="http://schemas.openxmlformats.org/officeDocument/2006/relationships/image"/><Relationship Id="rId3"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3.xml" Type="http://schemas.openxmlformats.org/officeDocument/2006/relationships/slideLayout"/><Relationship Id="rId2" Target="../media/image3.png" Type="http://schemas.openxmlformats.org/officeDocument/2006/relationships/image"/><Relationship Id="rId3"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rotWithShape="true">
          <a:blip r:embed="rId2"/>
          <a:stretch>
            <a:fillRect t="0" l="0" b="0" r="0"/>
          </a:stretch>
        </a:blipFill>
      </p:bgPr>
    </p:bg>
    <p:spTree>
      <p:nvGrpSpPr>
        <p:cNvPr id="1" name=""/>
        <p:cNvGrpSpPr/>
        <p:nvPr/>
      </p:nvGrpSpPr>
      <p:grpSpPr>
        <a:xfrm>
          <a:off x="0" y="0"/>
          <a:ext cx="0" cy="0"/>
          <a:chOff x="0" y="0"/>
          <a:chExt cx="0" cy="0"/>
        </a:xfrm>
      </p:grpSpPr>
      <p:sp>
        <p:nvSpPr>
          <p:cNvPr name="TextBox 2" id="2"/>
          <p:cNvSpPr txBox="true"/>
          <p:nvPr/>
        </p:nvSpPr>
        <p:spPr>
          <a:xfrm rot="0">
            <a:off x="217618" y="-92673"/>
            <a:ext cx="10083202" cy="4036060"/>
          </a:xfrm>
          <a:prstGeom prst="rect">
            <a:avLst/>
          </a:prstGeom>
          <a:noFill/>
        </p:spPr>
        <p:txBody>
          <a:bodyPr anchor="ctr" rtlCol="false" vert="horz" wrap="square" tIns="45720" lIns="91440" bIns="45720" rIns="91440">
            <a:noAutofit/>
          </a:bodyPr>
          <a:lstStyle/>
          <a:p>
            <a:pPr algn="l" indent="0" marL="0">
              <a:lnSpc>
                <a:spcPct val="120000"/>
              </a:lnSpc>
              <a:defRPr/>
            </a:pPr>
            <a:r>
              <a:rPr lang="en-US" b="true" i="false" sz="3600" baseline="0" u="none">
                <a:solidFill>
                  <a:srgbClr val="C1ACD1">
                    <a:alpha val="100000"/>
                  </a:srgbClr>
                </a:solidFill>
                <a:latin typeface="思源黑体 Medium"/>
                <a:ea typeface="思源黑体 Medium"/>
              </a:rPr>
              <a:t>Healthcare AI Agent for Patient  </a:t>
            </a:r>
            <a:endParaRPr lang="en-US" sz="1100"/>
          </a:p>
          <a:p>
            <a:pPr algn="l" indent="0" marL="0">
              <a:lnSpc>
                <a:spcPct val="120000"/>
              </a:lnSpc>
            </a:pPr>
            <a:r>
              <a:rPr lang="en-US" b="true" i="false" sz="3600" baseline="0" u="none">
                <a:solidFill>
                  <a:srgbClr val="C1ACD1">
                    <a:alpha val="100000"/>
                  </a:srgbClr>
                </a:solidFill>
                <a:latin typeface="思源黑体 Medium"/>
                <a:ea typeface="思源黑体 Medium"/>
              </a:rPr>
              <a:t>Symptom Triage and Guidance</a:t>
            </a:r>
          </a:p>
        </p:txBody>
      </p:sp>
      <p:sp>
        <p:nvSpPr>
          <p:cNvPr name="TextBox 3" id="3"/>
          <p:cNvSpPr txBox="true"/>
          <p:nvPr/>
        </p:nvSpPr>
        <p:spPr>
          <a:xfrm rot="0">
            <a:off x="531383" y="3364753"/>
            <a:ext cx="4800600" cy="228600"/>
          </a:xfrm>
          <a:prstGeom prst="rect">
            <a:avLst/>
          </a:prstGeom>
          <a:noFill/>
        </p:spPr>
        <p:txBody>
          <a:bodyPr anchor="t" rtlCol="false" vert="horz" wrap="square" tIns="45720" lIns="91440" bIns="45720" rIns="91440">
            <a:spAutoFit/>
          </a:bodyPr>
          <a:lstStyle/>
          <a:p>
            <a:pPr algn="l" indent="0" marL="0">
              <a:lnSpc>
                <a:spcPct val="100000"/>
              </a:lnSpc>
              <a:defRPr/>
            </a:pPr>
            <a:r>
              <a:rPr lang="en-US" b="true" i="false" sz="2000" baseline="0" u="none">
                <a:solidFill>
                  <a:srgbClr val="262626">
                    <a:alpha val="100000"/>
                  </a:srgbClr>
                </a:solidFill>
                <a:latin typeface="system-ui"/>
                <a:ea typeface="system-ui"/>
              </a:rPr>
              <a:t>Team 7</a:t>
            </a:r>
            <a:endParaRPr lang="en-US" sz="1100"/>
          </a:p>
          <a:p>
            <a:pPr algn="l" indent="0" marL="0">
              <a:lnSpc>
                <a:spcPct val="100000"/>
              </a:lnSpc>
            </a:pPr>
            <a:r>
              <a:rPr lang="en-US" b="false" i="false" sz="1800" baseline="0" u="none">
                <a:solidFill>
                  <a:srgbClr val="262626">
                    <a:alpha val="100000"/>
                  </a:srgbClr>
                </a:solidFill>
                <a:latin typeface="system-ui"/>
                <a:ea typeface="system-ui"/>
              </a:rPr>
              <a:t>- Naman Shrivastava</a:t>
            </a:r>
          </a:p>
          <a:p>
            <a:pPr algn="l" indent="0" marL="0">
              <a:lnSpc>
                <a:spcPct val="100000"/>
              </a:lnSpc>
            </a:pPr>
            <a:r>
              <a:rPr lang="en-US" b="false" i="false" sz="1800" baseline="0" u="none">
                <a:solidFill>
                  <a:srgbClr val="262626">
                    <a:alpha val="100000"/>
                  </a:srgbClr>
                </a:solidFill>
                <a:latin typeface="system-ui"/>
                <a:ea typeface="system-ui"/>
              </a:rPr>
              <a:t>- Pranav Patni</a:t>
            </a:r>
          </a:p>
          <a:p>
            <a:pPr algn="l" indent="0" marL="0">
              <a:lnSpc>
                <a:spcPct val="100000"/>
              </a:lnSpc>
            </a:pPr>
            <a:r>
              <a:rPr lang="en-US" b="false" i="false" sz="1800" baseline="0" u="none">
                <a:solidFill>
                  <a:srgbClr val="262626">
                    <a:alpha val="100000"/>
                  </a:srgbClr>
                </a:solidFill>
                <a:latin typeface="system-ui"/>
                <a:ea typeface="system-ui"/>
              </a:rPr>
              <a:t>- Divyansh Dharmadhakari</a:t>
            </a:r>
          </a:p>
          <a:p>
            <a:pPr algn="l" indent="0" marL="0">
              <a:lnSpc>
                <a:spcPct val="100000"/>
              </a:lnSpc>
            </a:pPr>
            <a:r>
              <a:rPr lang="en-US" b="false" i="false" sz="1800" baseline="0" u="none">
                <a:solidFill>
                  <a:srgbClr val="262626">
                    <a:alpha val="100000"/>
                  </a:srgbClr>
                </a:solidFill>
                <a:latin typeface="system-ui"/>
                <a:ea typeface="system-ui"/>
              </a:rPr>
              <a:t>- Anshul Mishra</a:t>
            </a:r>
          </a:p>
          <a:p>
            <a:pPr algn="l" indent="0" marL="0">
              <a:lnSpc>
                <a:spcPct val="100000"/>
              </a:lnSpc>
            </a:pPr>
            <a:r>
              <a:rPr lang="en-US" b="false" i="false" sz="1800" baseline="0" u="none">
                <a:solidFill>
                  <a:srgbClr val="262626">
                    <a:alpha val="100000"/>
                  </a:srgbClr>
                </a:solidFill>
                <a:latin typeface="system-ui"/>
                <a:ea typeface="system-ui"/>
              </a:rPr>
              <a:t>- Durva Shah</a:t>
            </a:r>
          </a:p>
        </p:txBody>
      </p:sp>
      <p:sp>
        <p:nvSpPr>
          <p:cNvPr name="AutoShape 4" id="4"/>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Created By AI</a:t>
            </a:r>
            <a:endParaRPr lang="en-US" sz="1100"/>
          </a:p>
        </p:txBody>
      </p:sp>
    </p:spTree>
  </p:cSld>
  <p:clrMapOvr>
    <a:masterClrMapping/>
  </p:clrMapOvr>
  <p:transition spd="fast" advClick="false"/>
</p:sld>
</file>

<file path=ppt/slides/slide2.xml><?xml version="1.0" encoding="utf-8"?>
<p:sld xmlns:p="http://schemas.openxmlformats.org/presentationml/2006/main" xmlns:a="http://schemas.openxmlformats.org/drawingml/2006/main" xmlns:r="http://schemas.openxmlformats.org/officeDocument/2006/relationships">
  <p:cSld>
    <p:bg>
      <p:bgPr>
        <a:blipFill rotWithShape="true">
          <a:blip r:embed="rId2"/>
          <a:stretch>
            <a:fillRect t="0" l="0" b="0" r="0"/>
          </a:stretch>
        </a:blipFill>
      </p:bgPr>
    </p:bg>
    <p:spTree>
      <p:nvGrpSpPr>
        <p:cNvPr id="1" name=""/>
        <p:cNvGrpSpPr/>
        <p:nvPr/>
      </p:nvGrpSpPr>
      <p:grpSpPr>
        <a:xfrm>
          <a:off x="0" y="0"/>
          <a:ext cx="0" cy="0"/>
          <a:chOff x="0" y="0"/>
          <a:chExt cx="0" cy="0"/>
        </a:xfrm>
      </p:grpSpPr>
      <p:sp>
        <p:nvSpPr>
          <p:cNvPr name="TextBox 2" id="2"/>
          <p:cNvSpPr txBox="true"/>
          <p:nvPr/>
        </p:nvSpPr>
        <p:spPr>
          <a:xfrm>
            <a:off x="5454650" y="854710"/>
            <a:ext cx="6408000" cy="647700"/>
          </a:xfrm>
          <a:prstGeom prst="rect">
            <a:avLst/>
          </a:prstGeom>
          <a:ln>
            <a:noFill/>
          </a:ln>
        </p:spPr>
        <p:txBody>
          <a:bodyPr anchor="ctr" rtlCol="false" vert="horz" wrap="square" tIns="46990" lIns="90170" bIns="46990" rIns="90170">
            <a:normAutofit/>
          </a:bodyPr>
          <a:lstStyle/>
          <a:p>
            <a:pPr algn="l" indent="0" marL="0">
              <a:lnSpc>
                <a:spcPct val="100000"/>
              </a:lnSpc>
              <a:defRPr/>
            </a:pPr>
            <a:r>
              <a:rPr lang="en-US" b="false" i="false" sz="2200" baseline="0" u="none">
                <a:solidFill>
                  <a:srgbClr val="C1ACD1">
                    <a:alpha val="100000"/>
                  </a:srgbClr>
                </a:solidFill>
                <a:latin typeface="思源黑体 Normal"/>
                <a:ea typeface="思源黑体 Normal"/>
              </a:rPr>
              <a:t>Introduction</a:t>
            </a:r>
            <a:endParaRPr lang="en-US" sz="1100"/>
          </a:p>
        </p:txBody>
      </p:sp>
      <p:sp>
        <p:nvSpPr>
          <p:cNvPr name="TextBox 3" id="3"/>
          <p:cNvSpPr txBox="true"/>
          <p:nvPr/>
        </p:nvSpPr>
        <p:spPr>
          <a:xfrm>
            <a:off x="4244340" y="742950"/>
            <a:ext cx="997585" cy="870585"/>
          </a:xfrm>
          <a:prstGeom prst="rect">
            <a:avLst/>
          </a:prstGeom>
          <a:noFill/>
        </p:spPr>
        <p:txBody>
          <a:bodyPr anchor="ctr" rtlCol="false" vert="horz" wrap="square" tIns="46990" lIns="90170" bIns="46990" rIns="90170">
            <a:normAutofit/>
          </a:bodyPr>
          <a:lstStyle/>
          <a:p>
            <a:pPr algn="ctr" fontAlgn="auto" indent="0" marL="0">
              <a:defRPr/>
            </a:pPr>
            <a:r>
              <a:rPr lang="en-US" b="false" i="false" sz="3000" baseline="0" u="none">
                <a:solidFill>
                  <a:srgbClr val="C1ACD1"/>
                </a:solidFill>
                <a:latin typeface="思源黑体 Normal"/>
                <a:ea typeface="思源黑体 Normal"/>
              </a:rPr>
              <a:t>01</a:t>
            </a:r>
            <a:endParaRPr lang="en-US" sz="1100"/>
          </a:p>
        </p:txBody>
      </p:sp>
      <p:sp>
        <p:nvSpPr>
          <p:cNvPr name="TextBox 4" id="4"/>
          <p:cNvSpPr txBox="true"/>
          <p:nvPr/>
        </p:nvSpPr>
        <p:spPr>
          <a:xfrm>
            <a:off x="5454650" y="1613535"/>
            <a:ext cx="6408000" cy="647700"/>
          </a:xfrm>
          <a:prstGeom prst="rect">
            <a:avLst/>
          </a:prstGeom>
          <a:ln>
            <a:noFill/>
          </a:ln>
        </p:spPr>
        <p:txBody>
          <a:bodyPr anchor="ctr" rtlCol="false" vert="horz" wrap="square" tIns="46990" lIns="90170" bIns="46990" rIns="90170">
            <a:normAutofit/>
          </a:bodyPr>
          <a:lstStyle/>
          <a:p>
            <a:pPr algn="l" indent="0" marL="0">
              <a:lnSpc>
                <a:spcPct val="100000"/>
              </a:lnSpc>
              <a:defRPr/>
            </a:pPr>
            <a:r>
              <a:rPr lang="en-US" b="false" i="false" sz="2200" baseline="0" u="none">
                <a:solidFill>
                  <a:srgbClr val="C1ACD1">
                    <a:alpha val="100000"/>
                  </a:srgbClr>
                </a:solidFill>
                <a:latin typeface="思源黑体 Normal"/>
                <a:ea typeface="思源黑体 Normal"/>
              </a:rPr>
              <a:t>Problem Context</a:t>
            </a:r>
            <a:endParaRPr lang="en-US" sz="1100"/>
          </a:p>
        </p:txBody>
      </p:sp>
      <p:sp>
        <p:nvSpPr>
          <p:cNvPr name="TextBox 5" id="5"/>
          <p:cNvSpPr txBox="true"/>
          <p:nvPr/>
        </p:nvSpPr>
        <p:spPr>
          <a:xfrm>
            <a:off x="4244340" y="1473835"/>
            <a:ext cx="997585" cy="870585"/>
          </a:xfrm>
          <a:prstGeom prst="rect">
            <a:avLst/>
          </a:prstGeom>
          <a:noFill/>
        </p:spPr>
        <p:txBody>
          <a:bodyPr anchor="ctr" rtlCol="false" vert="horz" wrap="square" tIns="46990" lIns="90170" bIns="46990" rIns="90170">
            <a:normAutofit/>
          </a:bodyPr>
          <a:lstStyle/>
          <a:p>
            <a:pPr algn="ctr" fontAlgn="auto" indent="0" marL="0">
              <a:defRPr/>
            </a:pPr>
            <a:r>
              <a:rPr lang="en-US" b="false" i="false" sz="3000" baseline="0" u="none">
                <a:solidFill>
                  <a:srgbClr val="C1ACD1"/>
                </a:solidFill>
                <a:latin typeface="思源黑体 Normal"/>
                <a:ea typeface="思源黑体 Normal"/>
              </a:rPr>
              <a:t>02</a:t>
            </a:r>
            <a:endParaRPr lang="en-US" sz="1100"/>
          </a:p>
        </p:txBody>
      </p:sp>
      <p:sp>
        <p:nvSpPr>
          <p:cNvPr name="TextBox 6" id="6"/>
          <p:cNvSpPr txBox="true"/>
          <p:nvPr/>
        </p:nvSpPr>
        <p:spPr>
          <a:xfrm>
            <a:off x="5454650" y="2343785"/>
            <a:ext cx="6408000" cy="647700"/>
          </a:xfrm>
          <a:prstGeom prst="rect">
            <a:avLst/>
          </a:prstGeom>
          <a:ln>
            <a:noFill/>
          </a:ln>
        </p:spPr>
        <p:txBody>
          <a:bodyPr anchor="ctr" rtlCol="false" vert="horz" wrap="square" tIns="46990" lIns="90170" bIns="46990" rIns="90170">
            <a:normAutofit/>
          </a:bodyPr>
          <a:lstStyle/>
          <a:p>
            <a:pPr algn="l" indent="0" marL="0">
              <a:lnSpc>
                <a:spcPct val="100000"/>
              </a:lnSpc>
              <a:defRPr/>
            </a:pPr>
            <a:r>
              <a:rPr lang="en-US" b="false" i="false" sz="2200" baseline="0" u="none">
                <a:solidFill>
                  <a:srgbClr val="C1ACD1">
                    <a:alpha val="100000"/>
                  </a:srgbClr>
                </a:solidFill>
                <a:latin typeface="思源黑体 Normal"/>
                <a:ea typeface="思源黑体 Normal"/>
              </a:rPr>
              <a:t>Solution Overview</a:t>
            </a:r>
            <a:endParaRPr lang="en-US" sz="1100"/>
          </a:p>
        </p:txBody>
      </p:sp>
      <p:sp>
        <p:nvSpPr>
          <p:cNvPr name="TextBox 7" id="7"/>
          <p:cNvSpPr txBox="true"/>
          <p:nvPr/>
        </p:nvSpPr>
        <p:spPr>
          <a:xfrm>
            <a:off x="4244340" y="2232025"/>
            <a:ext cx="997585" cy="870585"/>
          </a:xfrm>
          <a:prstGeom prst="rect">
            <a:avLst/>
          </a:prstGeom>
          <a:noFill/>
        </p:spPr>
        <p:txBody>
          <a:bodyPr anchor="ctr" rtlCol="false" vert="horz" wrap="square" tIns="46990" lIns="90170" bIns="46990" rIns="90170">
            <a:normAutofit/>
          </a:bodyPr>
          <a:lstStyle/>
          <a:p>
            <a:pPr algn="ctr" fontAlgn="auto" indent="0" marL="0">
              <a:defRPr/>
            </a:pPr>
            <a:r>
              <a:rPr lang="en-US" b="false" i="false" sz="3000" baseline="0" u="none">
                <a:solidFill>
                  <a:srgbClr val="C1ACD1"/>
                </a:solidFill>
                <a:latin typeface="思源黑体 Normal"/>
                <a:ea typeface="思源黑体 Normal"/>
              </a:rPr>
              <a:t>03</a:t>
            </a:r>
            <a:endParaRPr lang="en-US" sz="1100"/>
          </a:p>
        </p:txBody>
      </p:sp>
      <p:sp>
        <p:nvSpPr>
          <p:cNvPr name="TextBox 8" id="8"/>
          <p:cNvSpPr txBox="true"/>
          <p:nvPr/>
        </p:nvSpPr>
        <p:spPr>
          <a:xfrm>
            <a:off x="5454650" y="3074035"/>
            <a:ext cx="6408000" cy="647700"/>
          </a:xfrm>
          <a:prstGeom prst="rect">
            <a:avLst/>
          </a:prstGeom>
          <a:ln>
            <a:noFill/>
          </a:ln>
        </p:spPr>
        <p:txBody>
          <a:bodyPr anchor="ctr" rtlCol="false" vert="horz" wrap="square" tIns="46990" lIns="90170" bIns="46990" rIns="90170">
            <a:normAutofit/>
          </a:bodyPr>
          <a:lstStyle/>
          <a:p>
            <a:pPr algn="l" indent="0" marL="0">
              <a:lnSpc>
                <a:spcPct val="100000"/>
              </a:lnSpc>
              <a:defRPr/>
            </a:pPr>
            <a:r>
              <a:rPr lang="en-US" b="false" i="false" sz="2200" baseline="0" u="none">
                <a:solidFill>
                  <a:srgbClr val="C1ACD1">
                    <a:alpha val="100000"/>
                  </a:srgbClr>
                </a:solidFill>
                <a:latin typeface="思源黑体 Normal"/>
                <a:ea typeface="思源黑体 Normal"/>
              </a:rPr>
              <a:t>Design Diagram</a:t>
            </a:r>
            <a:endParaRPr lang="en-US" sz="1100"/>
          </a:p>
        </p:txBody>
      </p:sp>
      <p:sp>
        <p:nvSpPr>
          <p:cNvPr name="TextBox 9" id="9"/>
          <p:cNvSpPr txBox="true"/>
          <p:nvPr/>
        </p:nvSpPr>
        <p:spPr>
          <a:xfrm>
            <a:off x="4244340" y="2962275"/>
            <a:ext cx="997585" cy="870585"/>
          </a:xfrm>
          <a:prstGeom prst="rect">
            <a:avLst/>
          </a:prstGeom>
          <a:noFill/>
        </p:spPr>
        <p:txBody>
          <a:bodyPr anchor="ctr" rtlCol="false" vert="horz" wrap="square" tIns="46990" lIns="90170" bIns="46990" rIns="90170">
            <a:normAutofit/>
          </a:bodyPr>
          <a:lstStyle/>
          <a:p>
            <a:pPr algn="ctr" fontAlgn="auto" indent="0" marL="0">
              <a:defRPr/>
            </a:pPr>
            <a:r>
              <a:rPr lang="en-US" b="false" i="false" sz="3000" baseline="0" u="none">
                <a:solidFill>
                  <a:srgbClr val="C1ACD1"/>
                </a:solidFill>
                <a:latin typeface="思源黑体 Normal"/>
                <a:ea typeface="思源黑体 Normal"/>
              </a:rPr>
              <a:t>04</a:t>
            </a:r>
            <a:endParaRPr lang="en-US" sz="1100"/>
          </a:p>
        </p:txBody>
      </p:sp>
      <p:sp>
        <p:nvSpPr>
          <p:cNvPr name="TextBox 10" id="10"/>
          <p:cNvSpPr txBox="true"/>
          <p:nvPr/>
        </p:nvSpPr>
        <p:spPr>
          <a:xfrm rot="0">
            <a:off x="5454650" y="3911675"/>
            <a:ext cx="6408000" cy="647700"/>
          </a:xfrm>
          <a:prstGeom prst="rect">
            <a:avLst/>
          </a:prstGeom>
          <a:ln>
            <a:noFill/>
          </a:ln>
        </p:spPr>
        <p:txBody>
          <a:bodyPr anchor="ctr" rtlCol="false" vert="horz" wrap="square" tIns="46990" lIns="90170" bIns="46990" rIns="90170">
            <a:normAutofit/>
          </a:bodyPr>
          <a:lstStyle/>
          <a:p>
            <a:pPr algn="l" indent="0" marL="0">
              <a:lnSpc>
                <a:spcPct val="100000"/>
              </a:lnSpc>
              <a:defRPr/>
            </a:pPr>
            <a:r>
              <a:rPr lang="en-US" b="false" i="false" sz="2200" baseline="0" u="none">
                <a:solidFill>
                  <a:srgbClr val="C1ACD1">
                    <a:alpha val="100000"/>
                  </a:srgbClr>
                </a:solidFill>
                <a:latin typeface="思源黑体 Normal"/>
                <a:ea typeface="思源黑体 Normal"/>
              </a:rPr>
              <a:t>Bot Response 1</a:t>
            </a:r>
            <a:endParaRPr lang="en-US" sz="1100"/>
          </a:p>
        </p:txBody>
      </p:sp>
      <p:sp>
        <p:nvSpPr>
          <p:cNvPr name="TextBox 11" id="11"/>
          <p:cNvSpPr txBox="true"/>
          <p:nvPr/>
        </p:nvSpPr>
        <p:spPr>
          <a:xfrm>
            <a:off x="4244340" y="3694430"/>
            <a:ext cx="997585" cy="870585"/>
          </a:xfrm>
          <a:prstGeom prst="rect">
            <a:avLst/>
          </a:prstGeom>
          <a:noFill/>
        </p:spPr>
        <p:txBody>
          <a:bodyPr anchor="ctr" rtlCol="false" vert="horz" wrap="square" tIns="46990" lIns="90170" bIns="46990" rIns="90170">
            <a:normAutofit/>
          </a:bodyPr>
          <a:lstStyle/>
          <a:p>
            <a:pPr algn="ctr" fontAlgn="auto" indent="0" marL="0">
              <a:defRPr/>
            </a:pPr>
            <a:r>
              <a:rPr lang="en-US" b="false" i="false" sz="3000" baseline="0" u="none">
                <a:solidFill>
                  <a:srgbClr val="C1ACD1"/>
                </a:solidFill>
                <a:latin typeface="思源黑体 Normal"/>
                <a:ea typeface="思源黑体 Normal"/>
              </a:rPr>
              <a:t>05</a:t>
            </a:r>
            <a:endParaRPr lang="en-US" sz="1100"/>
          </a:p>
        </p:txBody>
      </p:sp>
      <p:sp>
        <p:nvSpPr>
          <p:cNvPr name="TextBox 12" id="12"/>
          <p:cNvSpPr txBox="true"/>
          <p:nvPr/>
        </p:nvSpPr>
        <p:spPr>
          <a:xfrm>
            <a:off x="5454650" y="4538345"/>
            <a:ext cx="6408000" cy="647700"/>
          </a:xfrm>
          <a:prstGeom prst="rect">
            <a:avLst/>
          </a:prstGeom>
          <a:ln>
            <a:noFill/>
          </a:ln>
        </p:spPr>
        <p:txBody>
          <a:bodyPr anchor="ctr" rtlCol="false" vert="horz" wrap="square" tIns="46990" lIns="90170" bIns="46990" rIns="90170">
            <a:normAutofit/>
          </a:bodyPr>
          <a:lstStyle/>
          <a:p>
            <a:pPr algn="l">
              <a:defRPr/>
            </a:pPr>
            <a:r>
              <a:rPr lang="en-US"/>
              <a:t/>
            </a:r>
            <a:endParaRPr lang="en-US" sz="1100"/>
          </a:p>
        </p:txBody>
      </p:sp>
      <p:sp>
        <p:nvSpPr>
          <p:cNvPr name="TextBox 13" id="13"/>
          <p:cNvSpPr txBox="true"/>
          <p:nvPr/>
        </p:nvSpPr>
        <p:spPr>
          <a:xfrm>
            <a:off x="4244340" y="4450715"/>
            <a:ext cx="997585" cy="870585"/>
          </a:xfrm>
          <a:prstGeom prst="rect">
            <a:avLst/>
          </a:prstGeom>
          <a:noFill/>
        </p:spPr>
        <p:txBody>
          <a:bodyPr anchor="ctr" rtlCol="false" vert="horz" wrap="square" tIns="46990" lIns="90170" bIns="46990" rIns="90170">
            <a:normAutofit/>
          </a:bodyPr>
          <a:lstStyle/>
          <a:p>
            <a:pPr algn="ctr" fontAlgn="auto" indent="0" marL="0">
              <a:defRPr/>
            </a:pPr>
            <a:r>
              <a:rPr lang="en-US" b="false" i="false" sz="3000" baseline="0" u="none">
                <a:solidFill>
                  <a:srgbClr val="C1ACD1"/>
                </a:solidFill>
                <a:latin typeface="思源黑体 Normal"/>
                <a:ea typeface="思源黑体 Normal"/>
              </a:rPr>
              <a:t>06</a:t>
            </a:r>
            <a:endParaRPr lang="en-US" sz="1100"/>
          </a:p>
        </p:txBody>
      </p:sp>
      <p:sp>
        <p:nvSpPr>
          <p:cNvPr name="TextBox 14" id="14"/>
          <p:cNvSpPr txBox="true"/>
          <p:nvPr/>
        </p:nvSpPr>
        <p:spPr>
          <a:xfrm rot="0">
            <a:off x="5454650" y="5358242"/>
            <a:ext cx="6408000" cy="647700"/>
          </a:xfrm>
          <a:prstGeom prst="rect">
            <a:avLst/>
          </a:prstGeom>
          <a:ln>
            <a:noFill/>
          </a:ln>
        </p:spPr>
        <p:txBody>
          <a:bodyPr anchor="ctr" rtlCol="false" vert="horz" wrap="square" tIns="46990" lIns="90170" bIns="46990" rIns="90170">
            <a:normAutofit/>
          </a:bodyPr>
          <a:lstStyle/>
          <a:p>
            <a:pPr algn="l" fontAlgn="auto" indent="0" marL="0">
              <a:lnSpc>
                <a:spcPct val="100000"/>
              </a:lnSpc>
              <a:spcBef>
                <a:spcPct val="0"/>
              </a:spcBef>
              <a:defRPr/>
            </a:pPr>
            <a:r>
              <a:rPr lang="en-US" b="false" i="false" sz="2200" baseline="0" u="none">
                <a:solidFill>
                  <a:srgbClr val="C1ACD1"/>
                </a:solidFill>
                <a:latin typeface="思源黑体 Normal"/>
                <a:ea typeface="思源黑体 Normal"/>
              </a:rPr>
              <a:t>Conclusion</a:t>
            </a:r>
            <a:endParaRPr lang="en-US" sz="1100"/>
          </a:p>
        </p:txBody>
      </p:sp>
      <p:sp>
        <p:nvSpPr>
          <p:cNvPr name="TextBox 15" id="15"/>
          <p:cNvSpPr txBox="true"/>
          <p:nvPr/>
        </p:nvSpPr>
        <p:spPr>
          <a:xfrm>
            <a:off x="4244340" y="5181600"/>
            <a:ext cx="997585" cy="870585"/>
          </a:xfrm>
          <a:prstGeom prst="rect">
            <a:avLst/>
          </a:prstGeom>
          <a:noFill/>
        </p:spPr>
        <p:txBody>
          <a:bodyPr anchor="ctr" rtlCol="false" vert="horz" wrap="square" tIns="46990" lIns="90170" bIns="46990" rIns="90170">
            <a:normAutofit/>
          </a:bodyPr>
          <a:lstStyle/>
          <a:p>
            <a:pPr algn="ctr" indent="0" marL="0">
              <a:lnSpc>
                <a:spcPct val="100000"/>
              </a:lnSpc>
              <a:defRPr/>
            </a:pPr>
            <a:r>
              <a:rPr lang="en-US" b="false" i="false" sz="3000" baseline="0" u="none">
                <a:solidFill>
                  <a:srgbClr val="C1ACD1">
                    <a:alpha val="100000"/>
                  </a:srgbClr>
                </a:solidFill>
                <a:latin typeface="思源黑体 Normal"/>
                <a:ea typeface="思源黑体 Normal"/>
              </a:rPr>
              <a:t>07</a:t>
            </a:r>
            <a:endParaRPr lang="en-US" sz="1100"/>
          </a:p>
        </p:txBody>
      </p:sp>
      <p:sp>
        <p:nvSpPr>
          <p:cNvPr name="TextBox 16" id="16"/>
          <p:cNvSpPr txBox="true"/>
          <p:nvPr/>
        </p:nvSpPr>
        <p:spPr>
          <a:xfrm>
            <a:off x="810260" y="2344420"/>
            <a:ext cx="3133725" cy="1570990"/>
          </a:xfrm>
          <a:prstGeom prst="rect">
            <a:avLst/>
          </a:prstGeom>
        </p:spPr>
        <p:txBody>
          <a:bodyPr anchor="t" rtlCol="false" vert="horz" wrap="square" tIns="46990" lIns="90170" bIns="46990" rIns="90170">
            <a:normAutofit/>
          </a:bodyPr>
          <a:lstStyle/>
          <a:p>
            <a:pPr algn="ctr" fontAlgn="auto" indent="0" marL="0">
              <a:lnSpc>
                <a:spcPct val="108000"/>
              </a:lnSpc>
              <a:defRPr/>
            </a:pPr>
            <a:r>
              <a:rPr lang="en-US" b="false" i="false" sz="6640" spc="-442" baseline="0" u="none">
                <a:solidFill>
                  <a:srgbClr val="C1ACD1"/>
                </a:solidFill>
                <a:latin typeface="思源宋体 CN Medium"/>
                <a:ea typeface="思源宋体 CN Medium"/>
              </a:rPr>
              <a:t>Contents</a:t>
            </a:r>
            <a:endParaRPr lang="en-US" sz="1100"/>
          </a:p>
        </p:txBody>
      </p:sp>
      <p:sp>
        <p:nvSpPr>
          <p:cNvPr name="TextBox 17" id="17"/>
          <p:cNvSpPr txBox="true"/>
          <p:nvPr/>
        </p:nvSpPr>
        <p:spPr>
          <a:xfrm rot="0">
            <a:off x="5394885" y="4487881"/>
            <a:ext cx="6408000" cy="647700"/>
          </a:xfrm>
          <a:prstGeom prst="rect">
            <a:avLst/>
          </a:prstGeom>
          <a:ln>
            <a:noFill/>
          </a:ln>
        </p:spPr>
        <p:txBody>
          <a:bodyPr anchor="ctr" rtlCol="false" vert="horz" wrap="square" tIns="46990" lIns="90170" bIns="46990" rIns="90170">
            <a:normAutofit/>
          </a:bodyPr>
          <a:lstStyle/>
          <a:p>
            <a:pPr algn="l">
              <a:defRPr/>
            </a:pPr>
            <a:r>
              <a:rPr lang="en-US"/>
              <a:t/>
            </a:r>
            <a:endParaRPr lang="en-US" sz="1100"/>
          </a:p>
        </p:txBody>
      </p:sp>
      <p:sp>
        <p:nvSpPr>
          <p:cNvPr name="TextBox 18" id="18"/>
          <p:cNvSpPr txBox="true"/>
          <p:nvPr/>
        </p:nvSpPr>
        <p:spPr>
          <a:xfrm rot="0">
            <a:off x="5454650" y="4681145"/>
            <a:ext cx="6408000" cy="647700"/>
          </a:xfrm>
          <a:prstGeom prst="rect">
            <a:avLst/>
          </a:prstGeom>
          <a:ln>
            <a:noFill/>
          </a:ln>
        </p:spPr>
        <p:txBody>
          <a:bodyPr anchor="ctr" rtlCol="false" vert="horz" wrap="square" tIns="46990" lIns="90170" bIns="46990" rIns="90170">
            <a:normAutofit/>
          </a:bodyPr>
          <a:lstStyle/>
          <a:p>
            <a:pPr algn="l" indent="0" marL="0">
              <a:lnSpc>
                <a:spcPct val="100000"/>
              </a:lnSpc>
              <a:defRPr/>
            </a:pPr>
            <a:r>
              <a:rPr lang="en-US" b="false" i="false" sz="2200" baseline="0" u="none">
                <a:solidFill>
                  <a:srgbClr val="C1ACD1">
                    <a:alpha val="100000"/>
                  </a:srgbClr>
                </a:solidFill>
                <a:latin typeface="思源黑体 Normal"/>
                <a:ea typeface="思源黑体 Normal"/>
              </a:rPr>
              <a:t>Bot Response 2</a:t>
            </a:r>
            <a:endParaRPr lang="en-US" sz="1100"/>
          </a:p>
        </p:txBody>
      </p:sp>
    </p:spTree>
  </p:cSld>
  <p:clrMapOvr>
    <a:masterClrMapping/>
  </p:clrMapOvr>
  <p:transition spd="fast" advClick="false"/>
</p:sld>
</file>

<file path=ppt/slides/slide3.xml><?xml version="1.0" encoding="utf-8"?>
<p:sld xmlns:p="http://schemas.openxmlformats.org/presentationml/2006/main" xmlns:a="http://schemas.openxmlformats.org/drawingml/2006/main" xmlns:r="http://schemas.openxmlformats.org/officeDocument/2006/relationships">
  <p:cSld>
    <p:bg>
      <p:bgPr>
        <a:blipFill rotWithShape="true">
          <a:blip r:embed="rId2"/>
          <a:stretch>
            <a:fillRect t="0" l="0" b="0" r="0"/>
          </a:stretch>
        </a:blipFill>
      </p:bgPr>
    </p:bg>
    <p:spTree>
      <p:nvGrpSpPr>
        <p:cNvPr id="1" name=""/>
        <p:cNvGrpSpPr/>
        <p:nvPr/>
      </p:nvGrpSpPr>
      <p:grpSpPr>
        <a:xfrm>
          <a:off x="0" y="0"/>
          <a:ext cx="0" cy="0"/>
          <a:chOff x="0" y="0"/>
          <a:chExt cx="0" cy="0"/>
        </a:xfrm>
      </p:grpSpPr>
      <p:sp>
        <p:nvSpPr>
          <p:cNvPr name="TextBox 2" id="2"/>
          <p:cNvSpPr txBox="true"/>
          <p:nvPr/>
        </p:nvSpPr>
        <p:spPr>
          <a:xfrm>
            <a:off x="3856990" y="1510030"/>
            <a:ext cx="4478020" cy="721360"/>
          </a:xfrm>
          <a:prstGeom prst="rect">
            <a:avLst/>
          </a:prstGeom>
          <a:noFill/>
          <a:ln>
            <a:noFill/>
          </a:ln>
        </p:spPr>
        <p:txBody>
          <a:bodyPr anchor="ctr" rtlCol="false" vert="horz" tIns="45720" lIns="91440" bIns="45720" rIns="91440">
            <a:noAutofit/>
          </a:bodyPr>
          <a:lstStyle/>
          <a:p>
            <a:pPr algn="l">
              <a:defRPr/>
            </a:pPr>
            <a:r>
              <a:rPr lang="en-US"/>
              <a:t/>
            </a:r>
            <a:endParaRPr lang="en-US" sz="1100"/>
          </a:p>
        </p:txBody>
      </p:sp>
      <p:sp>
        <p:nvSpPr>
          <p:cNvPr name="TextBox 3" id="3"/>
          <p:cNvSpPr txBox="true"/>
          <p:nvPr/>
        </p:nvSpPr>
        <p:spPr>
          <a:xfrm rot="0">
            <a:off x="2144351" y="-538176"/>
            <a:ext cx="8376346" cy="2607310"/>
          </a:xfrm>
          <a:prstGeom prst="rect">
            <a:avLst/>
          </a:prstGeom>
          <a:noFill/>
          <a:ln>
            <a:noFill/>
          </a:ln>
        </p:spPr>
        <p:txBody>
          <a:bodyPr anchor="ctr" rtlCol="false" vert="horz" tIns="45720" lIns="91440" bIns="45720" rIns="91440">
            <a:noAutofit/>
          </a:bodyPr>
          <a:lstStyle/>
          <a:p>
            <a:pPr algn="ctr" indent="0" marL="0">
              <a:lnSpc>
                <a:spcPct val="120000"/>
              </a:lnSpc>
              <a:defRPr/>
            </a:pPr>
            <a:r>
              <a:rPr lang="en-US" b="true" i="false" sz="3200" baseline="0" u="none">
                <a:solidFill>
                  <a:srgbClr val="C1ACD1">
                    <a:alpha val="100000"/>
                  </a:srgbClr>
                </a:solidFill>
                <a:latin typeface="思源黑体 Medium"/>
                <a:ea typeface="思源黑体 Medium"/>
              </a:rPr>
              <a:t>Introduction</a:t>
            </a:r>
            <a:endParaRPr lang="en-US" sz="1100"/>
          </a:p>
        </p:txBody>
      </p:sp>
      <p:sp>
        <p:nvSpPr>
          <p:cNvPr name="TextBox 4" id="4"/>
          <p:cNvSpPr txBox="true"/>
          <p:nvPr/>
        </p:nvSpPr>
        <p:spPr>
          <a:xfrm rot="0">
            <a:off x="783291" y="1971059"/>
            <a:ext cx="11370235" cy="1531620"/>
          </a:xfrm>
          <a:prstGeom prst="rect">
            <a:avLst/>
          </a:prstGeom>
          <a:noFill/>
        </p:spPr>
        <p:txBody>
          <a:bodyPr anchor="t" rtlCol="false" vert="horz" wrap="square" tIns="45720" lIns="91440" bIns="45720" rIns="91440">
            <a:spAutoFit/>
          </a:bodyPr>
          <a:lstStyle/>
          <a:p>
            <a:pPr algn="ctr" indent="0" marL="0">
              <a:lnSpc>
                <a:spcPct val="100000"/>
              </a:lnSpc>
              <a:defRPr/>
            </a:pPr>
            <a:r>
              <a:rPr lang="en-US" b="false" i="false" sz="2000" baseline="0" u="none">
                <a:solidFill>
                  <a:srgbClr val="262626">
                    <a:alpha val="100000"/>
                  </a:srgbClr>
                </a:solidFill>
                <a:latin typeface="system-ui"/>
                <a:ea typeface="system-ui"/>
              </a:rPr>
              <a:t>Imagine a world where every patient has instant access to reliable symptom guidance.</a:t>
            </a:r>
            <a:endParaRPr lang="en-US" sz="1100"/>
          </a:p>
          <a:p>
            <a:pPr algn="ctr" indent="0" marL="0">
              <a:lnSpc>
                <a:spcPct val="100000"/>
              </a:lnSpc>
            </a:pPr>
            <a:r>
              <a:rPr lang="en-US" b="false" i="false" sz="2000" baseline="0" u="none">
                <a:solidFill>
                  <a:srgbClr val="262626">
                    <a:alpha val="100000"/>
                  </a:srgbClr>
                </a:solidFill>
                <a:latin typeface="system-ui"/>
                <a:ea typeface="system-ui"/>
              </a:rPr>
              <a:t>AI agents make this vision a reality—enhancing care, reducing strain, </a:t>
            </a:r>
          </a:p>
          <a:p>
            <a:pPr algn="ctr" indent="0" marL="0">
              <a:lnSpc>
                <a:spcPct val="100000"/>
              </a:lnSpc>
            </a:pPr>
            <a:r>
              <a:rPr lang="en-US" b="false" i="false" sz="2000" baseline="0" u="none">
                <a:solidFill>
                  <a:srgbClr val="262626">
                    <a:alpha val="100000"/>
                  </a:srgbClr>
                </a:solidFill>
                <a:latin typeface="system-ui"/>
                <a:ea typeface="system-ui"/>
              </a:rPr>
              <a:t>and empowering smarter decisions.</a:t>
            </a:r>
          </a:p>
        </p:txBody>
      </p:sp>
    </p:spTree>
  </p:cSld>
  <p:clrMapOvr>
    <a:masterClrMapping/>
  </p:clrMapOvr>
  <p:transition spd="fast" advClick="false"/>
</p:sld>
</file>

<file path=ppt/slides/slide4.xml><?xml version="1.0" encoding="utf-8"?>
<p:sld xmlns:p="http://schemas.openxmlformats.org/presentationml/2006/main" xmlns:a="http://schemas.openxmlformats.org/drawingml/2006/main" xmlns:r="http://schemas.openxmlformats.org/officeDocument/2006/relationships">
  <p:cSld>
    <p:bg>
      <p:bgPr>
        <a:blipFill rotWithShape="true">
          <a:blip r:embed="rId2"/>
          <a:stretch>
            <a:fillRect t="0" l="0" b="0" r="0"/>
          </a:stretch>
        </a:blipFill>
      </p:bgPr>
    </p:bg>
    <p:spTree>
      <p:nvGrpSpPr>
        <p:cNvPr id="1" name=""/>
        <p:cNvGrpSpPr/>
        <p:nvPr/>
      </p:nvGrpSpPr>
      <p:grpSpPr>
        <a:xfrm>
          <a:off x="0" y="0"/>
          <a:ext cx="0" cy="0"/>
          <a:chOff x="0" y="0"/>
          <a:chExt cx="0" cy="0"/>
        </a:xfrm>
      </p:grpSpPr>
      <p:sp>
        <p:nvSpPr>
          <p:cNvPr name="TextBox 2" id="2"/>
          <p:cNvSpPr txBox="true"/>
          <p:nvPr/>
        </p:nvSpPr>
        <p:spPr>
          <a:xfrm rot="0">
            <a:off x="3993403" y="289523"/>
            <a:ext cx="10800000" cy="720090"/>
          </a:xfrm>
          <a:prstGeom prst="rect">
            <a:avLst/>
          </a:prstGeom>
          <a:noFill/>
        </p:spPr>
        <p:txBody>
          <a:bodyPr anchor="t" rtlCol="false" vert="horz" wrap="square" tIns="45720" lIns="91440" bIns="45720" rIns="91440">
            <a:spAutoFit/>
          </a:bodyPr>
          <a:lstStyle/>
          <a:p>
            <a:pPr algn="l" indent="0" marL="0">
              <a:defRPr/>
            </a:pPr>
            <a:r>
              <a:rPr lang="zh-CN" b="true" i="false" sz="3200" baseline="0" u="none" altLang="en-US">
                <a:solidFill>
                  <a:srgbClr val="C1ACD1">
                    <a:alpha val="100000"/>
                  </a:srgbClr>
                </a:solidFill>
                <a:latin typeface="思源黑体 Normal"/>
                <a:ea typeface="思源黑体 Normal"/>
              </a:rPr>
              <a:t>Problem Context</a:t>
            </a:r>
            <a:endParaRPr lang="en-US" sz="1100"/>
          </a:p>
        </p:txBody>
      </p:sp>
      <p:sp>
        <p:nvSpPr>
          <p:cNvPr name="TextBox 3" id="3"/>
          <p:cNvSpPr txBox="true"/>
          <p:nvPr/>
        </p:nvSpPr>
        <p:spPr>
          <a:xfrm rot="0">
            <a:off x="697753" y="1357369"/>
            <a:ext cx="10873068" cy="1263650"/>
          </a:xfrm>
          <a:prstGeom prst="rect">
            <a:avLst/>
          </a:prstGeom>
          <a:noFill/>
        </p:spPr>
        <p:txBody>
          <a:bodyPr anchor="t" rtlCol="false" vert="horz" wrap="square" tIns="45720" lIns="91440" bIns="45720" rIns="91440">
            <a:spAutoFit/>
          </a:bodyPr>
          <a:lstStyle/>
          <a:p>
            <a:pPr algn="l" indent="0" marL="0">
              <a:lnSpc>
                <a:spcPct val="100000"/>
              </a:lnSpc>
              <a:defRPr/>
            </a:pPr>
            <a:r>
              <a:rPr lang="en-US" b="false" i="false" sz="1600" baseline="0" u="none">
                <a:solidFill>
                  <a:srgbClr val="262626">
                    <a:alpha val="100000"/>
                  </a:srgbClr>
                </a:solidFill>
                <a:latin typeface="system-ui"/>
                <a:ea typeface="system-ui"/>
              </a:rPr>
              <a:t>In today’s healthcare environment, patients frequently face uncertainty when experiencing symptoms—unsure whether their condition warrants immediate medical attention or can be managed at home. This lack of clarity leads to two      major issues:</a:t>
            </a:r>
            <a:endParaRPr lang="en-US" sz="1100"/>
          </a:p>
        </p:txBody>
      </p:sp>
      <p:sp>
        <p:nvSpPr>
          <p:cNvPr name="TextBox 4" id="4"/>
          <p:cNvSpPr txBox="true"/>
          <p:nvPr/>
        </p:nvSpPr>
        <p:spPr>
          <a:xfrm rot="0">
            <a:off x="1145988" y="2401757"/>
            <a:ext cx="10200715" cy="1388110"/>
          </a:xfrm>
          <a:prstGeom prst="rect">
            <a:avLst/>
          </a:prstGeom>
          <a:noFill/>
        </p:spPr>
        <p:txBody>
          <a:bodyPr anchor="t" rtlCol="false" vert="horz" wrap="square" tIns="45720" lIns="91440" bIns="45720" rIns="91440">
            <a:spAutoFit/>
          </a:bodyPr>
          <a:lstStyle/>
          <a:p>
            <a:pPr algn="l" indent="0" marL="0">
              <a:lnSpc>
                <a:spcPct val="100000"/>
              </a:lnSpc>
              <a:defRPr/>
            </a:pPr>
            <a:r>
              <a:rPr lang="en-US" b="false" i="false" sz="1500" baseline="0" u="none">
                <a:solidFill>
                  <a:srgbClr val="262626">
                    <a:alpha val="100000"/>
                  </a:srgbClr>
                </a:solidFill>
                <a:latin typeface="system-ui"/>
                <a:ea typeface="system-ui"/>
              </a:rPr>
              <a:t>Overutilization of emergency services: Many individuals visit emergency departments for non-urgent concerns, contributing to overcrowding, increased wait times, and resource strain on healthcare systems.</a:t>
            </a:r>
            <a:endParaRPr lang="en-US" sz="1100"/>
          </a:p>
        </p:txBody>
      </p:sp>
      <p:sp>
        <p:nvSpPr>
          <p:cNvPr name="TextBox 5" id="5"/>
          <p:cNvSpPr txBox="true"/>
          <p:nvPr/>
        </p:nvSpPr>
        <p:spPr>
          <a:xfrm rot="0">
            <a:off x="1145988" y="3290047"/>
            <a:ext cx="10126009" cy="1369060"/>
          </a:xfrm>
          <a:prstGeom prst="rect">
            <a:avLst/>
          </a:prstGeom>
          <a:noFill/>
        </p:spPr>
        <p:txBody>
          <a:bodyPr anchor="t" rtlCol="false" vert="horz" wrap="square" tIns="45720" lIns="91440" bIns="45720" rIns="91440">
            <a:spAutoFit/>
          </a:bodyPr>
          <a:lstStyle/>
          <a:p>
            <a:pPr algn="l" indent="0" marL="0">
              <a:lnSpc>
                <a:spcPct val="100000"/>
              </a:lnSpc>
              <a:defRPr/>
            </a:pPr>
            <a:r>
              <a:rPr lang="en-US" b="false" i="false" sz="1500" baseline="0" u="none">
                <a:solidFill>
                  <a:srgbClr val="262626">
                    <a:alpha val="100000"/>
                  </a:srgbClr>
                </a:solidFill>
                <a:latin typeface="system-ui"/>
                <a:ea typeface="system-ui"/>
              </a:rPr>
              <a:t>Delayed care for serious conditions: Conversely, some patients underestimate the severity of their symptoms, delaying necessary treatment and risking complications or adverse outcomes.</a:t>
            </a:r>
            <a:endParaRPr lang="en-US" sz="1100"/>
          </a:p>
        </p:txBody>
      </p:sp>
      <p:pic>
        <p:nvPicPr>
          <p:cNvPr name="img195793.svg"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t="0" l="0" b="0" r="0"/>
          </a:stretch>
        </p:blipFill>
        <p:spPr>
          <a:xfrm rot="0">
            <a:off x="781050" y="3313206"/>
            <a:ext cx="826869" cy="826869"/>
          </a:xfrm>
          <a:prstGeom prst="rect">
            <a:avLst/>
          </a:prstGeom>
        </p:spPr>
      </p:pic>
      <p:pic>
        <p:nvPicPr>
          <p:cNvPr name="img107097.svg"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t="0" l="0" b="0" r="0"/>
          </a:stretch>
        </p:blipFill>
        <p:spPr>
          <a:xfrm rot="0">
            <a:off x="781050" y="2401794"/>
            <a:ext cx="796987" cy="796987"/>
          </a:xfrm>
          <a:prstGeom prst="rect">
            <a:avLst/>
          </a:prstGeom>
        </p:spPr>
      </p:pic>
      <p:pic>
        <p:nvPicPr>
          <p:cNvPr name="379722d74a9b4394bcc4b006bfe72dc7.png" id="8"/>
          <p:cNvPicPr>
            <a:picLocks noChangeAspect="true"/>
          </p:cNvPicPr>
          <p:nvPr/>
        </p:nvPicPr>
        <p:blipFill>
          <a:blip r:embed="rId4"/>
          <a:srcRect/>
          <a:stretch>
            <a:fillRect t="0" l="0" b="0" r="0"/>
          </a:stretch>
        </p:blipFill>
        <p:spPr>
          <a:xfrm rot="0">
            <a:off x="8628529" y="3983774"/>
            <a:ext cx="2141030" cy="2613756"/>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rotWithShape="true">
          <a:blip r:embed="rId2"/>
          <a:stretch>
            <a:fillRect t="0" l="0" b="0" r="0"/>
          </a:stretch>
        </a:blipFill>
      </p:bgPr>
    </p:bg>
    <p:spTree>
      <p:nvGrpSpPr>
        <p:cNvPr id="1" name=""/>
        <p:cNvGrpSpPr/>
        <p:nvPr/>
      </p:nvGrpSpPr>
      <p:grpSpPr>
        <a:xfrm>
          <a:off x="0" y="0"/>
          <a:ext cx="0" cy="0"/>
          <a:chOff x="0" y="0"/>
          <a:chExt cx="0" cy="0"/>
        </a:xfrm>
      </p:grpSpPr>
      <p:sp>
        <p:nvSpPr>
          <p:cNvPr name="AutoShape 2" id="2"/>
          <p:cNvSpPr/>
          <p:nvPr>
            <p:ph type="title"/>
          </p:nvPr>
        </p:nvSpPr>
        <p:spPr>
          <a:xfrm rot="0">
            <a:off x="4172697" y="155052"/>
            <a:ext cx="10800000" cy="720090"/>
          </a:xfrm>
        </p:spPr>
        <p:txBody>
          <a:bodyPr vert="horz" anchor="b" tIns="45720" lIns="91440" bIns="45720" rIns="91440">
            <a:normAutofit/>
          </a:bodyPr>
          <a:p>
            <a:pPr algn="l" indent="0" marL="0">
              <a:lnSpc>
                <a:spcPct val="90000"/>
              </a:lnSpc>
            </a:pPr>
            <a:r>
              <a:rPr lang="en-US" b="true" i="false" sz="3200" baseline="0" u="none">
                <a:solidFill>
                  <a:srgbClr val="C1ACD1">
                    <a:alpha val="100000"/>
                  </a:srgbClr>
                </a:solidFill>
                <a:latin typeface="思源黑体 Normal"/>
                <a:ea typeface="思源黑体 Normal"/>
              </a:rPr>
              <a:t>Solution overview</a:t>
            </a:r>
          </a:p>
        </p:txBody>
      </p:sp>
      <p:sp>
        <p:nvSpPr>
          <p:cNvPr name="TextBox 3" id="3"/>
          <p:cNvSpPr txBox="true"/>
          <p:nvPr/>
        </p:nvSpPr>
        <p:spPr>
          <a:xfrm rot="0">
            <a:off x="333917" y="1243106"/>
            <a:ext cx="11731999" cy="1627378"/>
          </a:xfrm>
          <a:prstGeom prst="rect">
            <a:avLst/>
          </a:prstGeom>
          <a:noFill/>
        </p:spPr>
        <p:txBody>
          <a:bodyPr anchor="t" rtlCol="false" vert="horz" wrap="square" tIns="45720" lIns="91440" bIns="45720" rIns="91440">
            <a:spAutoFit/>
          </a:bodyPr>
          <a:lstStyle/>
          <a:p>
            <a:pPr algn="l" indent="0" marL="0">
              <a:lnSpc>
                <a:spcPct val="100000"/>
              </a:lnSpc>
              <a:defRPr/>
            </a:pPr>
            <a:r>
              <a:rPr lang="en-US" b="false" i="false" sz="1800" baseline="0" u="none">
                <a:solidFill>
                  <a:srgbClr val="262626">
                    <a:alpha val="100000"/>
                  </a:srgbClr>
                </a:solidFill>
                <a:latin typeface="system-ui"/>
                <a:ea typeface="system-ui"/>
              </a:rPr>
              <a:t>Our solution leverages cutting-edge AI to deliver intelligent symptom triage and guidance for patients, built with a focus on accuracy, accessibility, and scalability to deliver </a:t>
            </a:r>
            <a:r>
              <a:rPr lang="en-US" b="true" i="false" sz="1800" baseline="0" u="none">
                <a:solidFill>
                  <a:srgbClr val="262626">
                    <a:alpha val="100000"/>
                  </a:srgbClr>
                </a:solidFill>
                <a:latin typeface="system-ui"/>
                <a:ea typeface="system-ui"/>
              </a:rPr>
              <a:t>assisment, recommendation and explaination</a:t>
            </a:r>
            <a:endParaRPr lang="en-US" sz="1100"/>
          </a:p>
        </p:txBody>
      </p:sp>
      <p:sp>
        <p:nvSpPr>
          <p:cNvPr name="TextBox 4" id="4"/>
          <p:cNvSpPr txBox="true"/>
          <p:nvPr/>
        </p:nvSpPr>
        <p:spPr>
          <a:xfrm rot="0">
            <a:off x="1163171" y="1887698"/>
            <a:ext cx="10402234" cy="575056"/>
          </a:xfrm>
          <a:prstGeom prst="rect">
            <a:avLst/>
          </a:prstGeom>
          <a:noFill/>
        </p:spPr>
        <p:txBody>
          <a:bodyPr anchor="t" rtlCol="false" vert="horz" wrap="square" tIns="45720" lIns="91440" bIns="45720" rIns="91440">
            <a:spAutoFit/>
          </a:bodyPr>
          <a:lstStyle/>
          <a:p>
            <a:pPr algn="l" indent="0" marL="0">
              <a:lnSpc>
                <a:spcPct val="100000"/>
              </a:lnSpc>
              <a:defRPr/>
            </a:pPr>
            <a:endParaRPr lang="en-US" sz="1100"/>
          </a:p>
          <a:p>
            <a:pPr algn="l" indent="0" marL="0">
              <a:lnSpc>
                <a:spcPct val="100000"/>
              </a:lnSpc>
            </a:pPr>
            <a:r>
              <a:rPr lang="en-US" b="false" i="false" sz="1800" baseline="0" u="none">
                <a:solidFill>
                  <a:srgbClr val="262626">
                    <a:alpha val="100000"/>
                  </a:srgbClr>
                </a:solidFill>
                <a:latin typeface="system-ui"/>
                <a:ea typeface="system-ui"/>
              </a:rPr>
              <a:t>Powered by OpenAI GPT-4.0 (via Oi AI Vast), enabling advanced natural language understanding and contextual reasoning for medical conversations.</a:t>
            </a:r>
          </a:p>
        </p:txBody>
      </p:sp>
      <p:sp>
        <p:nvSpPr>
          <p:cNvPr name="TextBox 5" id="5"/>
          <p:cNvSpPr txBox="true"/>
          <p:nvPr/>
        </p:nvSpPr>
        <p:spPr>
          <a:xfrm rot="0">
            <a:off x="1252818" y="3937403"/>
            <a:ext cx="10932832" cy="833374"/>
          </a:xfrm>
          <a:prstGeom prst="rect">
            <a:avLst/>
          </a:prstGeom>
          <a:noFill/>
        </p:spPr>
        <p:txBody>
          <a:bodyPr anchor="t" rtlCol="false" vert="horz" wrap="square" tIns="45720" lIns="91440" bIns="45720" rIns="91440">
            <a:spAutoFit/>
          </a:bodyPr>
          <a:lstStyle/>
          <a:p>
            <a:pPr algn="l">
              <a:defRPr/>
            </a:pPr>
            <a:r>
              <a:rPr lang="en-US"/>
              <a:t/>
            </a:r>
            <a:endParaRPr lang="en-US" sz="1100"/>
          </a:p>
        </p:txBody>
      </p:sp>
      <p:pic>
        <p:nvPicPr>
          <p:cNvPr name="img131338.svg"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t="0" l="0" b="0" r="0"/>
          </a:stretch>
        </p:blipFill>
        <p:spPr>
          <a:xfrm rot="0">
            <a:off x="680837" y="2132016"/>
            <a:ext cx="931876" cy="931876"/>
          </a:xfrm>
          <a:prstGeom prst="rect">
            <a:avLst/>
          </a:prstGeom>
        </p:spPr>
      </p:pic>
      <p:pic>
        <p:nvPicPr>
          <p:cNvPr name="img131338.svg"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t="0" l="0" b="0" r="0"/>
          </a:stretch>
        </p:blipFill>
        <p:spPr>
          <a:xfrm rot="0">
            <a:off x="680837" y="3049778"/>
            <a:ext cx="931876" cy="931876"/>
          </a:xfrm>
          <a:prstGeom prst="rect">
            <a:avLst/>
          </a:prstGeom>
        </p:spPr>
      </p:pic>
      <p:sp>
        <p:nvSpPr>
          <p:cNvPr name="TextBox 8" id="8"/>
          <p:cNvSpPr txBox="true"/>
          <p:nvPr/>
        </p:nvSpPr>
        <p:spPr>
          <a:xfrm rot="0">
            <a:off x="1211617" y="3065929"/>
            <a:ext cx="9857068" cy="1129792"/>
          </a:xfrm>
          <a:prstGeom prst="rect">
            <a:avLst/>
          </a:prstGeom>
          <a:noFill/>
        </p:spPr>
        <p:txBody>
          <a:bodyPr anchor="t" rtlCol="false" vert="horz" wrap="square" tIns="45720" lIns="91440" bIns="45720" rIns="91440">
            <a:spAutoFit/>
          </a:bodyPr>
          <a:lstStyle/>
          <a:p>
            <a:pPr algn="l" indent="0" marL="0">
              <a:lnSpc>
                <a:spcPct val="100000"/>
              </a:lnSpc>
              <a:defRPr/>
            </a:pPr>
            <a:r>
              <a:rPr lang="en-US" b="false" i="false" sz="1800" baseline="0" u="none">
                <a:solidFill>
                  <a:srgbClr val="262626">
                    <a:alpha val="100000"/>
                  </a:srgbClr>
                </a:solidFill>
                <a:latin typeface="system-ui"/>
                <a:ea typeface="system-ui"/>
              </a:rPr>
              <a:t>We trained a custom medical knowledge base using trusted sources such as clinical textbooks which are referred by medical professionals.</a:t>
            </a:r>
            <a:endParaRPr lang="en-US" sz="1100"/>
          </a:p>
        </p:txBody>
      </p:sp>
      <p:sp>
        <p:nvSpPr>
          <p:cNvPr name="TextBox 9" id="9"/>
          <p:cNvSpPr txBox="true"/>
          <p:nvPr/>
        </p:nvSpPr>
        <p:spPr>
          <a:xfrm rot="0">
            <a:off x="720351" y="3937403"/>
            <a:ext cx="4025975" cy="316738"/>
          </a:xfrm>
          <a:prstGeom prst="rect">
            <a:avLst/>
          </a:prstGeom>
          <a:noFill/>
        </p:spPr>
        <p:txBody>
          <a:bodyPr anchor="t" rtlCol="false" vert="horz" wrap="square" tIns="45720" lIns="91440" bIns="45720" rIns="91440">
            <a:spAutoFit/>
          </a:bodyPr>
          <a:lstStyle/>
          <a:p>
            <a:pPr algn="l" indent="0" marL="0">
              <a:lnSpc>
                <a:spcPct val="100000"/>
              </a:lnSpc>
              <a:defRPr/>
            </a:pPr>
            <a:r>
              <a:rPr lang="en-US" b="false" i="false" sz="1800" baseline="0" u="none">
                <a:solidFill>
                  <a:srgbClr val="262626">
                    <a:alpha val="100000"/>
                  </a:srgbClr>
                </a:solidFill>
                <a:latin typeface="system-ui"/>
                <a:ea typeface="system-ui"/>
              </a:rPr>
              <a:t>🛠️    Tools Used</a:t>
            </a:r>
            <a:endParaRPr lang="en-US" sz="1100"/>
          </a:p>
        </p:txBody>
      </p:sp>
      <p:sp>
        <p:nvSpPr>
          <p:cNvPr name="TextBox 10" id="10"/>
          <p:cNvSpPr txBox="true"/>
          <p:nvPr/>
        </p:nvSpPr>
        <p:spPr>
          <a:xfrm rot="0">
            <a:off x="1519518" y="4335929"/>
            <a:ext cx="9946715" cy="575056"/>
          </a:xfrm>
          <a:prstGeom prst="rect">
            <a:avLst/>
          </a:prstGeom>
          <a:noFill/>
        </p:spPr>
        <p:txBody>
          <a:bodyPr anchor="t" rtlCol="false" vert="horz" wrap="square" tIns="45720" lIns="91440" bIns="45720" rIns="91440">
            <a:spAutoFit/>
          </a:bodyPr>
          <a:lstStyle/>
          <a:p>
            <a:pPr algn="l" indent="0" marL="0">
              <a:lnSpc>
                <a:spcPct val="100000"/>
              </a:lnSpc>
              <a:defRPr/>
            </a:pPr>
            <a:r>
              <a:rPr lang="en-US" b="false" i="false" sz="1800" baseline="0" u="none">
                <a:solidFill>
                  <a:srgbClr val="262626">
                    <a:alpha val="100000"/>
                  </a:srgbClr>
                </a:solidFill>
                <a:latin typeface="system-ui"/>
                <a:ea typeface="system-ui"/>
              </a:rPr>
              <a:t>OpenAI models for language processing and inference</a:t>
            </a:r>
            <a:endParaRPr lang="en-US" sz="1100"/>
          </a:p>
        </p:txBody>
      </p:sp>
      <p:sp>
        <p:nvSpPr>
          <p:cNvPr name="TextBox 11" id="11"/>
          <p:cNvSpPr txBox="true"/>
          <p:nvPr/>
        </p:nvSpPr>
        <p:spPr>
          <a:xfrm rot="0">
            <a:off x="1519518" y="4724400"/>
            <a:ext cx="8893175" cy="575056"/>
          </a:xfrm>
          <a:prstGeom prst="rect">
            <a:avLst/>
          </a:prstGeom>
          <a:noFill/>
        </p:spPr>
        <p:txBody>
          <a:bodyPr anchor="t" rtlCol="false" vert="horz" wrap="square" tIns="45720" lIns="91440" bIns="45720" rIns="91440">
            <a:spAutoFit/>
          </a:bodyPr>
          <a:lstStyle/>
          <a:p>
            <a:pPr algn="l" indent="0" marL="0">
              <a:lnSpc>
                <a:spcPct val="100000"/>
              </a:lnSpc>
              <a:defRPr/>
            </a:pPr>
            <a:r>
              <a:rPr lang="en-US" b="false" i="false" sz="1800" baseline="0" u="none">
                <a:solidFill>
                  <a:srgbClr val="262626">
                    <a:alpha val="100000"/>
                  </a:srgbClr>
                </a:solidFill>
                <a:latin typeface="system-ui"/>
                <a:ea typeface="system-ui"/>
              </a:rPr>
              <a:t>LangChain for orchestrating multi-step reasoning and tool integration</a:t>
            </a:r>
            <a:endParaRPr lang="en-US" sz="1100"/>
          </a:p>
        </p:txBody>
      </p:sp>
      <p:sp>
        <p:nvSpPr>
          <p:cNvPr name="TextBox 12" id="12"/>
          <p:cNvSpPr txBox="true"/>
          <p:nvPr/>
        </p:nvSpPr>
        <p:spPr>
          <a:xfrm rot="0">
            <a:off x="680837" y="5247341"/>
            <a:ext cx="4800600" cy="228600"/>
          </a:xfrm>
          <a:prstGeom prst="rect">
            <a:avLst/>
          </a:prstGeom>
          <a:noFill/>
        </p:spPr>
        <p:txBody>
          <a:bodyPr anchor="t" rtlCol="false" vert="horz" wrap="square" tIns="45720" lIns="91440" bIns="45720" rIns="91440">
            <a:spAutoFit/>
          </a:bodyPr>
          <a:lstStyle/>
          <a:p>
            <a:pPr algn="l" indent="0" marL="0">
              <a:lnSpc>
                <a:spcPct val="100000"/>
              </a:lnSpc>
              <a:defRPr/>
            </a:pPr>
            <a:r>
              <a:rPr lang="en-US" b="false" i="false" sz="1800" baseline="0" u="none">
                <a:solidFill>
                  <a:srgbClr val="262626">
                    <a:alpha val="100000"/>
                  </a:srgbClr>
                </a:solidFill>
                <a:latin typeface="system-ui"/>
                <a:ea typeface="system-ui"/>
              </a:rPr>
              <a:t>💻    Tech Stack</a:t>
            </a:r>
            <a:endParaRPr lang="en-US" sz="1100"/>
          </a:p>
        </p:txBody>
      </p:sp>
      <p:sp>
        <p:nvSpPr>
          <p:cNvPr name="TextBox 13" id="13"/>
          <p:cNvSpPr txBox="true"/>
          <p:nvPr/>
        </p:nvSpPr>
        <p:spPr>
          <a:xfrm rot="0">
            <a:off x="1577695" y="5635812"/>
            <a:ext cx="9573185" cy="575056"/>
          </a:xfrm>
          <a:prstGeom prst="rect">
            <a:avLst/>
          </a:prstGeom>
          <a:noFill/>
        </p:spPr>
        <p:txBody>
          <a:bodyPr anchor="t" rtlCol="false" vert="horz" wrap="square" tIns="45720" lIns="91440" bIns="45720" rIns="91440">
            <a:spAutoFit/>
          </a:bodyPr>
          <a:lstStyle/>
          <a:p>
            <a:pPr algn="l" indent="0" marL="0">
              <a:lnSpc>
                <a:spcPct val="100000"/>
              </a:lnSpc>
              <a:defRPr/>
            </a:pPr>
            <a:r>
              <a:rPr lang="en-US" b="false" i="false" sz="1800" baseline="0" u="none">
                <a:solidFill>
                  <a:srgbClr val="262626">
                    <a:alpha val="100000"/>
                  </a:srgbClr>
                </a:solidFill>
                <a:latin typeface="system-ui"/>
                <a:ea typeface="system-ui"/>
              </a:rPr>
              <a:t>Python for backend logic, model integration, and data handling</a:t>
            </a:r>
            <a:endParaRPr lang="en-US" sz="1100"/>
          </a:p>
        </p:txBody>
      </p:sp>
      <p:sp>
        <p:nvSpPr>
          <p:cNvPr name="TextBox 14" id="14"/>
          <p:cNvSpPr txBox="true"/>
          <p:nvPr/>
        </p:nvSpPr>
        <p:spPr>
          <a:xfrm rot="0">
            <a:off x="1577695" y="6024282"/>
            <a:ext cx="8318126" cy="575056"/>
          </a:xfrm>
          <a:prstGeom prst="rect">
            <a:avLst/>
          </a:prstGeom>
          <a:noFill/>
        </p:spPr>
        <p:txBody>
          <a:bodyPr anchor="t" rtlCol="false" vert="horz" wrap="square" tIns="45720" lIns="91440" bIns="45720" rIns="91440">
            <a:spAutoFit/>
          </a:bodyPr>
          <a:lstStyle/>
          <a:p>
            <a:pPr algn="l" indent="0" marL="0">
              <a:lnSpc>
                <a:spcPct val="100000"/>
              </a:lnSpc>
              <a:defRPr/>
            </a:pPr>
            <a:r>
              <a:rPr lang="en-US" b="false" i="false" sz="1800" baseline="0" u="none">
                <a:solidFill>
                  <a:srgbClr val="262626">
                    <a:alpha val="100000"/>
                  </a:srgbClr>
                </a:solidFill>
                <a:latin typeface="system-ui"/>
                <a:ea typeface="system-ui"/>
              </a:rPr>
              <a:t>React for responsive, user-friendly frontend design</a:t>
            </a:r>
            <a:endParaRPr lang="en-US" sz="1100"/>
          </a:p>
        </p:txBody>
      </p:sp>
    </p:spTree>
  </p:cSld>
  <p:clrMapOvr>
    <a:masterClrMapping/>
  </p:clrMapOvr>
  <p:transition spd="fast"/>
</p:sld>
</file>

<file path=ppt/slides/slide6.xml><?xml version="1.0" encoding="utf-8"?>
<p:sld xmlns:p="http://schemas.openxmlformats.org/presentationml/2006/main" xmlns:a="http://schemas.openxmlformats.org/drawingml/2006/main" xmlns:r="http://schemas.openxmlformats.org/officeDocument/2006/relationships">
  <p:cSld>
    <p:bg>
      <p:bgPr>
        <a:blipFill rotWithShape="true">
          <a:blip r:embed="rId2"/>
          <a:stretch>
            <a:fillRect t="0" l="0" b="0" r="0"/>
          </a:stretch>
        </a:blipFill>
      </p:bgPr>
    </p:bg>
    <p:spTree>
      <p:nvGrpSpPr>
        <p:cNvPr id="1" name=""/>
        <p:cNvGrpSpPr/>
        <p:nvPr/>
      </p:nvGrpSpPr>
      <p:grpSpPr>
        <a:xfrm>
          <a:off x="0" y="0"/>
          <a:ext cx="0" cy="0"/>
          <a:chOff x="0" y="0"/>
          <a:chExt cx="0" cy="0"/>
        </a:xfrm>
      </p:grpSpPr>
      <p:sp>
        <p:nvSpPr>
          <p:cNvPr name="TextBox 2" id="2"/>
          <p:cNvSpPr txBox="true"/>
          <p:nvPr/>
        </p:nvSpPr>
        <p:spPr>
          <a:xfrm rot="0">
            <a:off x="4247403" y="110229"/>
            <a:ext cx="10800000" cy="720090"/>
          </a:xfrm>
          <a:prstGeom prst="rect">
            <a:avLst/>
          </a:prstGeom>
          <a:noFill/>
        </p:spPr>
        <p:txBody>
          <a:bodyPr anchor="t" rtlCol="false" vert="horz" wrap="square" tIns="45720" lIns="91440" bIns="45720" rIns="91440">
            <a:spAutoFit/>
          </a:bodyPr>
          <a:lstStyle/>
          <a:p>
            <a:pPr algn="l" indent="0" marL="0">
              <a:lnSpc>
                <a:spcPct val="100000"/>
              </a:lnSpc>
              <a:defRPr/>
            </a:pPr>
            <a:r>
              <a:rPr lang="en-US" b="true" i="false" sz="3200" baseline="0" u="none">
                <a:solidFill>
                  <a:srgbClr val="C1ACD1">
                    <a:alpha val="100000"/>
                  </a:srgbClr>
                </a:solidFill>
                <a:latin typeface="思源黑体 Normal"/>
                <a:ea typeface="思源黑体 Normal"/>
              </a:rPr>
              <a:t>Design Diagram </a:t>
            </a:r>
            <a:endParaRPr lang="en-US" sz="1100"/>
          </a:p>
        </p:txBody>
      </p:sp>
      <p:pic>
        <p:nvPicPr>
          <p:cNvPr name="12e14bf5a69f47fcb7e090c490d6f933.png" id="3"/>
          <p:cNvPicPr>
            <a:picLocks noChangeAspect="true"/>
          </p:cNvPicPr>
          <p:nvPr/>
        </p:nvPicPr>
        <p:blipFill>
          <a:blip r:embed="rId3"/>
          <a:srcRect/>
          <a:stretch>
            <a:fillRect t="0" l="0" b="0" r="0"/>
          </a:stretch>
        </p:blipFill>
        <p:spPr>
          <a:xfrm rot="0">
            <a:off x="168693" y="975036"/>
            <a:ext cx="11848263" cy="5782235"/>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rotWithShape="true">
          <a:blip r:embed="rId2"/>
          <a:stretch>
            <a:fillRect t="0" l="0" b="0" r="0"/>
          </a:stretch>
        </a:blipFill>
      </p:bgPr>
    </p:bg>
    <p:spTree>
      <p:nvGrpSpPr>
        <p:cNvPr id="1" name=""/>
        <p:cNvGrpSpPr/>
        <p:nvPr/>
      </p:nvGrpSpPr>
      <p:grpSpPr>
        <a:xfrm>
          <a:off x="0" y="0"/>
          <a:ext cx="0" cy="0"/>
          <a:chOff x="0" y="0"/>
          <a:chExt cx="0" cy="0"/>
        </a:xfrm>
      </p:grpSpPr>
      <p:sp>
        <p:nvSpPr>
          <p:cNvPr name="TextBox 2" id="2"/>
          <p:cNvSpPr txBox="true"/>
          <p:nvPr/>
        </p:nvSpPr>
        <p:spPr>
          <a:xfrm rot="0">
            <a:off x="4179650" y="95287"/>
            <a:ext cx="10800000" cy="720090"/>
          </a:xfrm>
          <a:prstGeom prst="rect">
            <a:avLst/>
          </a:prstGeom>
          <a:noFill/>
        </p:spPr>
        <p:txBody>
          <a:bodyPr anchor="t" rtlCol="false" vert="horz" wrap="square" tIns="45720" lIns="91440" bIns="45720" rIns="91440">
            <a:spAutoFit/>
          </a:bodyPr>
          <a:lstStyle/>
          <a:p>
            <a:pPr algn="l" indent="0" marL="0">
              <a:lnSpc>
                <a:spcPct val="100000"/>
              </a:lnSpc>
              <a:defRPr/>
            </a:pPr>
            <a:r>
              <a:rPr lang="en-US" b="true" i="false" sz="3200" baseline="0" u="none">
                <a:solidFill>
                  <a:srgbClr val="C1ACD1">
                    <a:alpha val="100000"/>
                  </a:srgbClr>
                </a:solidFill>
                <a:latin typeface="思源黑体 Normal"/>
                <a:ea typeface="思源黑体 Normal"/>
              </a:rPr>
              <a:t>Relevant Response</a:t>
            </a:r>
            <a:endParaRPr lang="en-US" sz="1100"/>
          </a:p>
        </p:txBody>
      </p:sp>
      <p:pic>
        <p:nvPicPr>
          <p:cNvPr name="442c2bf18bab4a80bed4ed859aa468ac.png" id="3"/>
          <p:cNvPicPr>
            <a:picLocks noChangeAspect="true"/>
          </p:cNvPicPr>
          <p:nvPr/>
        </p:nvPicPr>
        <p:blipFill>
          <a:blip r:embed="rId3"/>
          <a:srcRect/>
          <a:stretch>
            <a:fillRect t="0" l="0" b="0" r="0"/>
          </a:stretch>
        </p:blipFill>
        <p:spPr>
          <a:xfrm rot="0">
            <a:off x="356397" y="894192"/>
            <a:ext cx="11472855" cy="565475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rotWithShape="true">
          <a:blip r:embed="rId2"/>
          <a:stretch>
            <a:fillRect t="0" l="0" b="0" r="0"/>
          </a:stretch>
        </a:blipFill>
      </p:bgPr>
    </p:bg>
    <p:spTree>
      <p:nvGrpSpPr>
        <p:cNvPr id="1" name=""/>
        <p:cNvGrpSpPr/>
        <p:nvPr/>
      </p:nvGrpSpPr>
      <p:grpSpPr>
        <a:xfrm>
          <a:off x="0" y="0"/>
          <a:ext cx="0" cy="0"/>
          <a:chOff x="0" y="0"/>
          <a:chExt cx="0" cy="0"/>
        </a:xfrm>
      </p:grpSpPr>
      <p:sp>
        <p:nvSpPr>
          <p:cNvPr name="TextBox 2" id="2"/>
          <p:cNvSpPr txBox="true"/>
          <p:nvPr/>
        </p:nvSpPr>
        <p:spPr>
          <a:xfrm rot="0">
            <a:off x="4351474" y="207346"/>
            <a:ext cx="10800000" cy="720090"/>
          </a:xfrm>
          <a:prstGeom prst="rect">
            <a:avLst/>
          </a:prstGeom>
          <a:noFill/>
        </p:spPr>
        <p:txBody>
          <a:bodyPr anchor="t" rtlCol="false" vert="horz" wrap="square" tIns="45720" lIns="91440" bIns="45720" rIns="91440">
            <a:spAutoFit/>
          </a:bodyPr>
          <a:lstStyle/>
          <a:p>
            <a:pPr algn="l" indent="0" marL="0">
              <a:lnSpc>
                <a:spcPct val="100000"/>
              </a:lnSpc>
              <a:defRPr/>
            </a:pPr>
            <a:r>
              <a:rPr lang="en-US" b="true" i="false" sz="3200" baseline="0" u="none">
                <a:solidFill>
                  <a:srgbClr val="C1ACD1">
                    <a:alpha val="100000"/>
                  </a:srgbClr>
                </a:solidFill>
                <a:latin typeface="思源黑体 Normal"/>
                <a:ea typeface="思源黑体 Normal"/>
              </a:rPr>
              <a:t>Irrelevant Response</a:t>
            </a:r>
            <a:endParaRPr lang="en-US" sz="1100"/>
          </a:p>
        </p:txBody>
      </p:sp>
      <p:pic>
        <p:nvPicPr>
          <p:cNvPr name="d668a93c081842ac821f865d7af5b6d7.png" id="3"/>
          <p:cNvPicPr>
            <a:picLocks noChangeAspect="true"/>
          </p:cNvPicPr>
          <p:nvPr/>
        </p:nvPicPr>
        <p:blipFill>
          <a:blip r:embed="rId3"/>
          <a:srcRect/>
          <a:stretch>
            <a:fillRect t="0" l="0" b="0" r="0"/>
          </a:stretch>
        </p:blipFill>
        <p:spPr>
          <a:xfrm rot="0">
            <a:off x="336176" y="871780"/>
            <a:ext cx="11422506" cy="5622923"/>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rotWithShape="true">
          <a:blip r:embed="rId2"/>
          <a:stretch>
            <a:fillRect t="0" l="0" b="0" r="0"/>
          </a:stretch>
        </a:blipFill>
      </p:bgPr>
    </p:bg>
    <p:spTree>
      <p:nvGrpSpPr>
        <p:cNvPr id="1" name=""/>
        <p:cNvGrpSpPr/>
        <p:nvPr/>
      </p:nvGrpSpPr>
      <p:grpSpPr>
        <a:xfrm>
          <a:off x="0" y="0"/>
          <a:ext cx="0" cy="0"/>
          <a:chOff x="0" y="0"/>
          <a:chExt cx="0" cy="0"/>
        </a:xfrm>
      </p:grpSpPr>
      <p:sp>
        <p:nvSpPr>
          <p:cNvPr name="TextBox 2" id="2"/>
          <p:cNvSpPr txBox="true"/>
          <p:nvPr/>
        </p:nvSpPr>
        <p:spPr>
          <a:xfrm rot="0">
            <a:off x="305255" y="376990"/>
            <a:ext cx="8385439" cy="3509985"/>
          </a:xfrm>
          <a:prstGeom prst="rect">
            <a:avLst/>
          </a:prstGeom>
          <a:noFill/>
        </p:spPr>
        <p:txBody>
          <a:bodyPr anchor="ctr" rtlCol="false" vert="horz" wrap="square" tIns="0" lIns="0" bIns="0" rIns="0">
            <a:noAutofit/>
          </a:bodyPr>
          <a:lstStyle/>
          <a:p>
            <a:pPr algn="dist" fontAlgn="auto" indent="0" marL="0">
              <a:lnSpc>
                <a:spcPct val="120000"/>
              </a:lnSpc>
              <a:defRPr/>
            </a:pPr>
            <a:r>
              <a:rPr lang="zh-CN" b="false" i="false" sz="9600" spc="500" baseline="0" u="none" altLang="en-US">
                <a:solidFill>
                  <a:srgbClr val="C1ACD1"/>
                </a:solidFill>
                <a:latin typeface="思源黑体 Medium"/>
                <a:ea typeface="思源黑体 Medium"/>
              </a:rPr>
              <a:t>Thank you for watching.</a:t>
            </a:r>
            <a:endParaRPr lang="en-US" sz="1100"/>
          </a:p>
        </p:txBody>
      </p:sp>
    </p:spTree>
  </p:cSld>
  <p:clrMapOvr>
    <a:masterClrMapping/>
  </p:clrMapOvr>
  <p:transition spd="fast" advClick="false"/>
</p:sld>
</file>

<file path=ppt/theme/theme1.xml><?xml version="1.0" encoding="utf-8"?>
<a:theme xmlns:a="http://schemas.openxmlformats.org/drawingml/2006/main" name="Office Theme">
  <a:themeElements>
    <a:clrScheme name="Office">
      <a:dk1>
        <a:srgbClr val="262626"/>
      </a:dk1>
      <a:lt1>
        <a:srgbClr val="FFFFFF"/>
      </a:lt1>
      <a:dk2>
        <a:srgbClr val="C1ACD1"/>
      </a:dk2>
      <a:lt2>
        <a:srgbClr val="FFFFFF"/>
      </a:lt2>
      <a:accent1>
        <a:srgbClr val="C1ACD1"/>
      </a:accent1>
      <a:accent2>
        <a:srgbClr val="C1ACD1"/>
      </a:accent2>
      <a:accent3>
        <a:srgbClr val="C1ACD1"/>
      </a:accent3>
      <a:accent4>
        <a:srgbClr val="C1ACD1"/>
      </a:accent4>
      <a:accent5>
        <a:srgbClr val="C1ACD1"/>
      </a:accent5>
      <a:accent6>
        <a:srgbClr val="C1ACD1"/>
      </a:accent6>
      <a:hlink>
        <a:srgbClr val="262626"/>
      </a:hlink>
      <a:folHlink>
        <a:srgbClr val="262626"/>
      </a:folHlink>
    </a:clrScheme>
    <a:fontScheme name="Office">
      <a:majorFont>
        <a:latin typeface="思源黑体 Medium"/>
        <a:ea typeface="思源黑体 Medium"/>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思源黑体 Medium"/>
        <a:ea typeface="思源黑体 Medium"/>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全屏显示(4:3)</PresentationFormat>
  <Paragraphs>0</Paragraphs>
  <Slides>9</Slides>
  <Notes>0</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0</vt:i4>
      </vt:variant>
    </vt:vector>
  </HeadingPairs>
  <TitlesOfParts>
    <vt:vector size="2" baseType="lpstr">
      <vt:lpstr>Arial</vt:lpstr>
      <vt:lpstr>Office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2025-11-07T13:09:13Z</dcterms:created>
  <cp:lastModifiedBy>user</cp:lastModifiedBy>
  <dcterms:modified xsi:type="dcterms:W3CDTF">2025-11-07T13:09:13Z</dcterms:modified>
  <cp:revision>1</cp:revision>
</cp:coreProperties>
</file>

<file path=docProps/custom.xml><?xml version="1.0" encoding="utf-8"?>
<Properties xmlns="http://schemas.openxmlformats.org/officeDocument/2006/custom-properties" xmlns:vt="http://schemas.openxmlformats.org/officeDocument/2006/docPropsVTypes">
  <property pid="2" fmtid="{D5CDD505-2E9C-101B-9397-08002B2CF9AE}" name="copyright">
    <vt:lpwstr>https://docmee.cn</vt:lpwstr>
  </property>
  <property pid="3" fmtid="{D5CDD505-2E9C-101B-9397-08002B2CF9AE}" name="developer">
    <vt:lpwstr>https://github.com/veasion</vt:lpwstr>
  </property>
  <property pid="4" fmtid="{D5CDD505-2E9C-101B-9397-08002B2CF9AE}" name="AIGC">
    <vt:lpwstr>{"ContentPropagator":"文多多","Label":"1","ReservedCode1":"1762520953843","ProduceID":"wenduoduo-pptx-1762520953843","ReservedCode2":"1762520953843","PropagateID":"wenduoduo-pptx1762520953843","ContentProducer":"文多多"}</vt:lpwstr>
  </property>
</Properties>
</file>